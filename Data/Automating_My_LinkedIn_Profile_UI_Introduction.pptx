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720000">
            <a:off x="8869680" y="-548640"/>
            <a:ext cx="3840480" cy="8229600"/>
          </a:xfrm>
          <a:prstGeom prst="rect">
            <a:avLst/>
          </a:prstGeom>
          <a:solidFill>
            <a:srgbClr val="12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720000">
            <a:off x="9784080" y="-457200"/>
            <a:ext cx="2743200" cy="7772400"/>
          </a:xfrm>
          <a:prstGeom prst="rect">
            <a:avLst/>
          </a:prstGeom>
          <a:solidFill>
            <a:srgbClr val="00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5074920"/>
            <a:ext cx="1280160" cy="73152"/>
          </a:xfrm>
          <a:prstGeom prst="rect">
            <a:avLst/>
          </a:prstGeom>
          <a:solidFill>
            <a:srgbClr val="00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74BEE8"/>
                </a:solidFill>
                <a:latin typeface="Aptos Display"/>
              </a:defRPr>
            </a:pPr>
            <a:r>
              <a:t>AUTOMATION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7863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Automating My</a:t>
            </a:r>
            <a:br/>
            <a:r>
              <a:t>LinkedIn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069080"/>
            <a:ext cx="7132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ED2E4"/>
                </a:solidFill>
                <a:latin typeface="Aptos"/>
              </a:defRPr>
            </a:pPr>
            <a:r>
              <a:t>A data-driven Selenium automation project for managing LinkedIn 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0644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AFC6"/>
                </a:solidFill>
                <a:latin typeface="Aptos"/>
              </a:defRPr>
            </a:pPr>
            <a:r>
              <a:t>Java  •  Selenium WebDriver  •  TestNG  •  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81160" y="1874519"/>
            <a:ext cx="2057400" cy="2057400"/>
          </a:xfrm>
          <a:prstGeom prst="roundRect">
            <a:avLst>
              <a:gd name="adj" fmla="val 12000"/>
            </a:avLst>
          </a:prstGeom>
          <a:solidFill>
            <a:srgbClr val="00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64040" y="2148840"/>
            <a:ext cx="169164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600" b="1">
                <a:solidFill>
                  <a:srgbClr val="FFFFFF"/>
                </a:solidFill>
                <a:latin typeface="Arial"/>
              </a:defRPr>
            </a:pPr>
            <a:r>
              <a:t>in</a:t>
            </a:r>
          </a:p>
        </p:txBody>
      </p:sp>
      <p:sp>
        <p:nvSpPr>
          <p:cNvPr id="11" name="Oval 10"/>
          <p:cNvSpPr/>
          <p:nvPr/>
        </p:nvSpPr>
        <p:spPr>
          <a:xfrm>
            <a:off x="8503920" y="4800600"/>
            <a:ext cx="146304" cy="146304"/>
          </a:xfrm>
          <a:prstGeom prst="ellipse">
            <a:avLst/>
          </a:prstGeom>
          <a:solidFill>
            <a:srgbClr val="74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35640" y="5120640"/>
            <a:ext cx="146304" cy="146304"/>
          </a:xfrm>
          <a:prstGeom prst="ellipse">
            <a:avLst/>
          </a:prstGeom>
          <a:solidFill>
            <a:srgbClr val="74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84280" y="914400"/>
            <a:ext cx="146304" cy="146304"/>
          </a:xfrm>
          <a:prstGeom prst="ellipse">
            <a:avLst/>
          </a:prstGeom>
          <a:solidFill>
            <a:srgbClr val="74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38160" y="914400"/>
            <a:ext cx="146304" cy="146304"/>
          </a:xfrm>
          <a:prstGeom prst="ellipse">
            <a:avLst/>
          </a:prstGeom>
          <a:solidFill>
            <a:srgbClr val="74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8577072" y="4873752"/>
            <a:ext cx="2331720" cy="320040"/>
          </a:xfrm>
          <a:prstGeom prst="line">
            <a:avLst/>
          </a:prstGeom>
          <a:ln w="15240">
            <a:solidFill>
              <a:srgbClr val="458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229600" y="987552"/>
            <a:ext cx="1143000" cy="978408"/>
          </a:xfrm>
          <a:prstGeom prst="line">
            <a:avLst/>
          </a:prstGeom>
          <a:ln w="15240">
            <a:solidFill>
              <a:srgbClr val="458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0881360" y="987552"/>
            <a:ext cx="576072" cy="978408"/>
          </a:xfrm>
          <a:prstGeom prst="line">
            <a:avLst/>
          </a:prstGeom>
          <a:ln w="15240">
            <a:solidFill>
              <a:srgbClr val="458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732520" y="5440680"/>
            <a:ext cx="2651760" cy="530352"/>
          </a:xfrm>
          <a:prstGeom prst="roundRect">
            <a:avLst/>
          </a:prstGeom>
          <a:solidFill>
            <a:srgbClr val="12375E"/>
          </a:solidFill>
          <a:ln w="12700">
            <a:solidFill>
              <a:srgbClr val="458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CEBF5"/>
                </a:solidFill>
                <a:latin typeface="Aptos"/>
              </a:defRPr>
            </a:pPr>
            <a:r>
              <a:t>AUTOMATE  →  REPEAT  →  SCALE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Introducing the UI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AC3D7"/>
                </a:solidFill>
                <a:latin typeface="Aptos"/>
              </a:defRPr>
            </a:pPr>
            <a:r>
              <a:t>A simple interface for managing LinkedIn profile skills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37360"/>
            <a:ext cx="7498079" cy="4389120"/>
          </a:xfrm>
          <a:prstGeom prst="roundRect">
            <a:avLst>
              <a:gd name="adj" fmla="val 6000"/>
            </a:avLst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737360"/>
            <a:ext cx="7498079" cy="438912"/>
          </a:xfrm>
          <a:prstGeom prst="rect">
            <a:avLst/>
          </a:prstGeom>
          <a:solidFill>
            <a:srgbClr val="E6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91440" cy="91440"/>
          </a:xfrm>
          <a:prstGeom prst="ellipse">
            <a:avLst/>
          </a:prstGeom>
          <a:solidFill>
            <a:srgbClr val="8C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9848" y="1874519"/>
            <a:ext cx="91440" cy="91440"/>
          </a:xfrm>
          <a:prstGeom prst="ellipse">
            <a:avLst/>
          </a:prstGeom>
          <a:solidFill>
            <a:srgbClr val="8C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71016" y="1874519"/>
            <a:ext cx="91440" cy="91440"/>
          </a:xfrm>
          <a:prstGeom prst="ellipse">
            <a:avLst/>
          </a:prstGeom>
          <a:solidFill>
            <a:srgbClr val="8C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2316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D46"/>
                </a:solidFill>
                <a:latin typeface="Aptos Display"/>
              </a:defRPr>
            </a:pPr>
            <a:r>
              <a:t>LinkedIn Skills Manager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971800"/>
            <a:ext cx="626364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072384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D46"/>
                </a:solidFill>
                <a:latin typeface="Aptos"/>
              </a:defRPr>
            </a:pPr>
            <a:r>
              <a:t>About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090672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88C"/>
                </a:solidFill>
                <a:latin typeface="Aptos"/>
              </a:defRPr>
            </a:pPr>
            <a:r>
              <a:t>Profile information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3666744"/>
            <a:ext cx="626364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3767328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D46"/>
                </a:solidFill>
                <a:latin typeface="Aptos"/>
              </a:defRPr>
            </a:pPr>
            <a:r>
              <a:t>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785615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88C"/>
                </a:solidFill>
                <a:latin typeface="Aptos"/>
              </a:defRPr>
            </a:pPr>
            <a:r>
              <a:t>Professional experience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4361688"/>
            <a:ext cx="626364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446227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D46"/>
                </a:solidFill>
                <a:latin typeface="Aptos"/>
              </a:defRPr>
            </a:pPr>
            <a:r>
              <a:t>Education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480559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88C"/>
                </a:solidFill>
                <a:latin typeface="Aptos"/>
              </a:defRPr>
            </a:pPr>
            <a:r>
              <a:t>Academic background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5056631"/>
            <a:ext cx="626364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0432" y="5157216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D46"/>
                </a:solidFill>
                <a:latin typeface="Aptos"/>
              </a:defRPr>
            </a:pPr>
            <a:r>
              <a:t>Skills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5175503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88C"/>
                </a:solidFill>
                <a:latin typeface="Aptos"/>
              </a:defRPr>
            </a:pPr>
            <a:r>
              <a:t>Add and manage skills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5166359"/>
            <a:ext cx="960120" cy="347472"/>
          </a:xfrm>
          <a:prstGeom prst="roundRect">
            <a:avLst/>
          </a:prstGeom>
          <a:solidFill>
            <a:srgbClr val="00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178308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How the tool works</a:t>
            </a:r>
          </a:p>
        </p:txBody>
      </p:sp>
      <p:sp>
        <p:nvSpPr>
          <p:cNvPr id="24" name="Oval 23"/>
          <p:cNvSpPr/>
          <p:nvPr/>
        </p:nvSpPr>
        <p:spPr>
          <a:xfrm>
            <a:off x="8823960" y="2560320"/>
            <a:ext cx="438912" cy="438912"/>
          </a:xfrm>
          <a:prstGeom prst="ellipse">
            <a:avLst/>
          </a:prstGeom>
          <a:solidFill>
            <a:srgbClr val="00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254203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Load 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2816352"/>
            <a:ext cx="2514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AC3D7"/>
                </a:solidFill>
                <a:latin typeface="Aptos"/>
              </a:defRPr>
            </a:pPr>
            <a:r>
              <a:t>Read skills and their sources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043416" y="2999232"/>
            <a:ext cx="0" cy="347471"/>
          </a:xfrm>
          <a:prstGeom prst="line">
            <a:avLst/>
          </a:prstGeom>
          <a:ln w="15240">
            <a:solidFill>
              <a:srgbClr val="458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8823960" y="3429000"/>
            <a:ext cx="438912" cy="438912"/>
          </a:xfrm>
          <a:prstGeom prst="ellipse">
            <a:avLst/>
          </a:prstGeom>
          <a:solidFill>
            <a:srgbClr val="00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341071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Select Section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40" y="3685032"/>
            <a:ext cx="2514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AC3D7"/>
                </a:solidFill>
                <a:latin typeface="Aptos"/>
              </a:defRPr>
            </a:pPr>
            <a:r>
              <a:t>Navigate to the LinkedIn profile section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043416" y="3867912"/>
            <a:ext cx="0" cy="347472"/>
          </a:xfrm>
          <a:prstGeom prst="line">
            <a:avLst/>
          </a:prstGeom>
          <a:ln w="15240">
            <a:solidFill>
              <a:srgbClr val="458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823960" y="4297680"/>
            <a:ext cx="438912" cy="438912"/>
          </a:xfrm>
          <a:prstGeom prst="ellipse">
            <a:avLst/>
          </a:prstGeom>
          <a:solidFill>
            <a:srgbClr val="00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040" y="427939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Add Skill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4040" y="4553712"/>
            <a:ext cx="2514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AC3D7"/>
                </a:solidFill>
                <a:latin typeface="Aptos"/>
              </a:defRPr>
            </a:pPr>
            <a:r>
              <a:t>Enter the skill through the UI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043416" y="4736592"/>
            <a:ext cx="0" cy="347472"/>
          </a:xfrm>
          <a:prstGeom prst="line">
            <a:avLst/>
          </a:prstGeom>
          <a:ln w="15240">
            <a:solidFill>
              <a:srgbClr val="458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823960" y="5166360"/>
            <a:ext cx="438912" cy="438912"/>
          </a:xfrm>
          <a:prstGeom prst="ellipse">
            <a:avLst/>
          </a:prstGeom>
          <a:solidFill>
            <a:srgbClr val="00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64040" y="514807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Save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64040" y="5422392"/>
            <a:ext cx="2514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AC3D7"/>
                </a:solidFill>
                <a:latin typeface="Aptos"/>
              </a:defRPr>
            </a:pPr>
            <a:r>
              <a:t>Persist the change automatically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32520" y="5715000"/>
            <a:ext cx="2834640" cy="438912"/>
          </a:xfrm>
          <a:prstGeom prst="roundRect">
            <a:avLst/>
          </a:prstGeom>
          <a:solidFill>
            <a:srgbClr val="12375E"/>
          </a:solidFill>
          <a:ln w="10160">
            <a:solidFill>
              <a:srgbClr val="458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DCEBF5"/>
                </a:solidFill>
                <a:latin typeface="Aptos"/>
              </a:defRPr>
            </a:pPr>
            <a:r>
              <a:t>Java  •  Selenium  •  TestNG  •  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